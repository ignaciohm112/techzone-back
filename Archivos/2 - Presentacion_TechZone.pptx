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82880"/>
            <a:ext cx="43891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E293B">
                    <a:alpha val="40000"/>
                  </a:srgbClr>
                </a:solidFill>
              </a:rPr>
              <a:t>PC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011680" cy="3474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</a:rPr>
              <a:t>PROYECTO FINAL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Zone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E-Commerce de Componentes de PC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y Electrónica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Diseño &amp; Desarrollo full-stack con IA, pagos y automatización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Diseño de Sistemas I  ·  Laboratorio de Desarrollo Web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28600"/>
            <a:ext cx="128016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</a:rPr>
              <a:t>01 / IDEA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es Tech Zone?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023360" cy="32004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34440"/>
            <a:ext cx="40233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El proyecto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Sitio web de e-commerce especializado en venta de componentes de PC y electrónica: CPUs, GPUs, placas madre, memorias RAM, almacenamiento, periféricos y accesorios electrónicos.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¿Para quién?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Usuarios: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Compradores de tecnología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Gestión de inventario y ventas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IA: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Asistente virtual + email automático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234440"/>
            <a:ext cx="2194560" cy="1463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234440"/>
            <a:ext cx="21945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74920" y="1399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Catálogo interactivo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Filtros por categoría, precio y marca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26280" y="2862072"/>
            <a:ext cx="2194560" cy="1463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9" name="Shape 16"/>
          <p:cNvSpPr/>
          <p:nvPr/>
        </p:nvSpPr>
        <p:spPr>
          <a:xfrm>
            <a:off x="4526280" y="2862072"/>
            <a:ext cx="21945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044952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74920" y="302666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Asistente con IA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663440" y="34564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Chat inteligente para guiar al comprador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858000" y="1234440"/>
            <a:ext cx="2194560" cy="1463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0" y="1234440"/>
            <a:ext cx="21945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1732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06640" y="1399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Pago con Mercado Pago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99516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Checkout Pro integrado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58000" y="2862072"/>
            <a:ext cx="2194560" cy="1463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9" name="Shape 24"/>
          <p:cNvSpPr/>
          <p:nvPr/>
        </p:nvSpPr>
        <p:spPr>
          <a:xfrm>
            <a:off x="6858000" y="2862072"/>
            <a:ext cx="21945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04495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06640" y="302666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Emails automáticos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995160" y="34564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Respuestas IA a consultas de clientes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4" name="Text 28"/>
          <p:cNvSpPr/>
          <p:nvPr/>
        </p:nvSpPr>
        <p:spPr>
          <a:xfrm>
            <a:off x="27432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 Zone ·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28600"/>
            <a:ext cx="173736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</a:rPr>
              <a:t>02 / ARQUITECTURA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Arquitectura del sistema (3 capas)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8503920" cy="9601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3444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344168"/>
            <a:ext cx="685800" cy="6858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99032"/>
            <a:ext cx="530352" cy="5303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325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FRONTEND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25880" y="1618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+ Bootstrap + JavaScript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93192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Catálogo de productos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31920" y="1719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Carrito de compras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2648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Checkout y pagos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26480" y="1719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Panel de usuario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7240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· Asistente virtual (chat IA)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" y="2423160"/>
            <a:ext cx="8503920" cy="9601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9" name="Shape 16"/>
          <p:cNvSpPr/>
          <p:nvPr/>
        </p:nvSpPr>
        <p:spPr>
          <a:xfrm>
            <a:off x="320040" y="2423160"/>
            <a:ext cx="64008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" y="2532888"/>
            <a:ext cx="685800" cy="685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587752"/>
            <a:ext cx="530352" cy="53035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25880" y="2514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BACKEND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325880" y="2807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93192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API REST (productos, órdenes, auth)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931920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Lógica de negocio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12648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JWT autenticación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126480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Integración Mercado Pago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772400" y="2743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· Servicio de emails automáticos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20040" y="3611880"/>
            <a:ext cx="8503920" cy="9601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0" name="Shape 26"/>
          <p:cNvSpPr/>
          <p:nvPr/>
        </p:nvSpPr>
        <p:spPr>
          <a:xfrm>
            <a:off x="320040" y="3611880"/>
            <a:ext cx="64008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7"/>
          <p:cNvSpPr/>
          <p:nvPr/>
        </p:nvSpPr>
        <p:spPr>
          <a:xfrm>
            <a:off x="502920" y="3721608"/>
            <a:ext cx="685800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776472"/>
            <a:ext cx="530352" cy="53035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2588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BASE DE DATOS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325880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MySQL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393192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Tabla usuarios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3931920" y="4096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Tabla productos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1264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Tabla órdenes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126480" y="4096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Tabla detalle_orden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7772400" y="3931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· Tabla categorías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320040" y="4572000"/>
            <a:ext cx="8503920" cy="502920"/>
          </a:xfrm>
          <a:prstGeom prst="rect">
            <a:avLst/>
          </a:prstGeom>
          <a:solidFill>
            <a:srgbClr val="1A0F2E"/>
          </a:solidFill>
          <a:ln/>
        </p:spPr>
      </p:sp>
      <p:sp>
        <p:nvSpPr>
          <p:cNvPr id="41" name="Shape 36"/>
          <p:cNvSpPr/>
          <p:nvPr/>
        </p:nvSpPr>
        <p:spPr>
          <a:xfrm>
            <a:off x="320040" y="4572000"/>
            <a:ext cx="64008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37"/>
          <p:cNvSpPr/>
          <p:nvPr/>
        </p:nvSpPr>
        <p:spPr>
          <a:xfrm>
            <a:off x="502920" y="4572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IA &amp; EXTRAS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2286000" y="4572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Claude API (asistente + emails)   ·   Mercado Pago SDK   ·   Nodemailer   ·   GitHub   ·   Vercel + Railway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28600"/>
            <a:ext cx="146304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</a:rPr>
              <a:t>03 / FASES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Fases del proyecto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011680" cy="356616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3444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325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29768" y="1783080"/>
            <a:ext cx="1737360" cy="201168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783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Semana 1–2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0574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Diseño &amp; planificación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59689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Diagrama casos de uso (UML)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93522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Wireframes en Figma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327355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Modelo de datos (DER)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36118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Requisitos SRS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950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Definir stack tecnológico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96312" y="1234440"/>
            <a:ext cx="2011680" cy="356616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4" name="Shape 22"/>
          <p:cNvSpPr/>
          <p:nvPr/>
        </p:nvSpPr>
        <p:spPr>
          <a:xfrm>
            <a:off x="2496312" y="123444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1325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2606040" y="1783080"/>
            <a:ext cx="173736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606040" y="1783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Semana 3–5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20574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Desarrollo core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33472" y="26517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2788920" y="259689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HTML/CSS/Bootstrap base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33472" y="29900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788920" y="293522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API REST con Express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33472" y="33284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2788920" y="327355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Base de datos MySQL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33472" y="366674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2788920" y="36118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React: catálogo y carrito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33472" y="40050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2788920" y="3950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Autenticación JWT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72584" y="1234440"/>
            <a:ext cx="2011680" cy="356616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0" name="Shape 38"/>
          <p:cNvSpPr/>
          <p:nvPr/>
        </p:nvSpPr>
        <p:spPr>
          <a:xfrm>
            <a:off x="4672584" y="12344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782312" y="1325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4782312" y="1783080"/>
            <a:ext cx="1737360" cy="201168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82312" y="1783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Semana 6–7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82312" y="20574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Integraciones &amp; IA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09744" y="265176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4965192" y="259689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Asistente virtual Claude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9744" y="299008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4965192" y="293522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Emails automáticos con IA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9744" y="33284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4965192" y="327355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Mercado Pago Checkout Pro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9744" y="36667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4965192" y="36118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Panel admin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9744" y="40050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4965192" y="3950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GitHub CI/CD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48856" y="1234440"/>
            <a:ext cx="2011680" cy="356616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6" name="Shape 54"/>
          <p:cNvSpPr/>
          <p:nvPr/>
        </p:nvSpPr>
        <p:spPr>
          <a:xfrm>
            <a:off x="6848856" y="123444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958584" y="1325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58" name="Shape 56"/>
          <p:cNvSpPr/>
          <p:nvPr/>
        </p:nvSpPr>
        <p:spPr>
          <a:xfrm>
            <a:off x="6958584" y="1783080"/>
            <a:ext cx="173736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958584" y="1783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Semana 8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58584" y="20574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Testing &amp; entrega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986016" y="26517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7141464" y="259689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Pruebas funcionales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986016" y="29900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7141464" y="293522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Corrección de bugs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986016" y="33284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7141464" y="327355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Deploy Vercel + Railway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986016" y="366674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7141464" y="36118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Documentación final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986016" y="4005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7141464" y="3950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Presentación al profesor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20040" y="4828032"/>
            <a:ext cx="850392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Shape 70"/>
          <p:cNvSpPr/>
          <p:nvPr/>
        </p:nvSpPr>
        <p:spPr>
          <a:xfrm>
            <a:off x="1261872" y="4791456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3" name="Text 71"/>
          <p:cNvSpPr/>
          <p:nvPr/>
        </p:nvSpPr>
        <p:spPr>
          <a:xfrm>
            <a:off x="86868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Sem 1-2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438144" y="479145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5" name="Text 73"/>
          <p:cNvSpPr/>
          <p:nvPr/>
        </p:nvSpPr>
        <p:spPr>
          <a:xfrm>
            <a:off x="3044952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Sem 3-5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614416" y="479145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7" name="Text 75"/>
          <p:cNvSpPr/>
          <p:nvPr/>
        </p:nvSpPr>
        <p:spPr>
          <a:xfrm>
            <a:off x="5221224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Sem 6-7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790688" y="479145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9" name="Text 77"/>
          <p:cNvSpPr/>
          <p:nvPr/>
        </p:nvSpPr>
        <p:spPr>
          <a:xfrm>
            <a:off x="7397496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Sem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28600"/>
            <a:ext cx="192024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</a:rPr>
              <a:t>04 / EQUIPO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Distribución del equipo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1627632" cy="3703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188720"/>
            <a:ext cx="162763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" y="1325880"/>
            <a:ext cx="457200" cy="45720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5331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18470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Nicolás E. Videla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56032" y="221284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Líder + IA &amp; Deploy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6032" y="2514600"/>
            <a:ext cx="1481328" cy="18288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" y="251460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DISEÑO 1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74320" y="2761488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384048" y="271576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SRS, flujo auto-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matización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74320" y="3008376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" y="29626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Diagrama de contexto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74320" y="3255264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384048" y="320954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Requisitos sistema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56032" y="3547872"/>
            <a:ext cx="1481328" cy="18288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56032" y="354787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LAB WEB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377647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384048" y="37398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Claude API (chat)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00507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384048" y="39684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Nodemailer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74320" y="423367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5"/>
          <p:cNvSpPr/>
          <p:nvPr/>
        </p:nvSpPr>
        <p:spPr>
          <a:xfrm>
            <a:off x="384048" y="41970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GitHub CI/CD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4320" y="446227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7"/>
          <p:cNvSpPr/>
          <p:nvPr/>
        </p:nvSpPr>
        <p:spPr>
          <a:xfrm>
            <a:off x="384048" y="44256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Vercel + Railway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947672" y="1188720"/>
            <a:ext cx="1627632" cy="3703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2" name="Shape 29"/>
          <p:cNvSpPr/>
          <p:nvPr/>
        </p:nvSpPr>
        <p:spPr>
          <a:xfrm>
            <a:off x="1947672" y="1188720"/>
            <a:ext cx="162763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Shape 30"/>
          <p:cNvSpPr/>
          <p:nvPr/>
        </p:nvSpPr>
        <p:spPr>
          <a:xfrm>
            <a:off x="2057400" y="1325880"/>
            <a:ext cx="457200" cy="45720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1353312"/>
            <a:ext cx="384048" cy="38404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020824" y="18470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Ramiro Miruy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2020824" y="221284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</a:rPr>
              <a:t>UX / UI + Frontend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020824" y="2514600"/>
            <a:ext cx="1481328" cy="18288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2020824" y="251460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DISEÑO 1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2039112" y="2761488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0" name="Text 36"/>
          <p:cNvSpPr/>
          <p:nvPr/>
        </p:nvSpPr>
        <p:spPr>
          <a:xfrm>
            <a:off x="2148840" y="271576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Wireframes Figma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2039112" y="3008376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2" name="Text 38"/>
          <p:cNvSpPr/>
          <p:nvPr/>
        </p:nvSpPr>
        <p:spPr>
          <a:xfrm>
            <a:off x="2148840" y="29626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Guía de estilos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2039112" y="3255264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4" name="Text 40"/>
          <p:cNvSpPr/>
          <p:nvPr/>
        </p:nvSpPr>
        <p:spPr>
          <a:xfrm>
            <a:off x="2148840" y="320954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Documentación UI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2039112" y="3502152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6" name="Text 42"/>
          <p:cNvSpPr/>
          <p:nvPr/>
        </p:nvSpPr>
        <p:spPr>
          <a:xfrm>
            <a:off x="2148840" y="345643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Prototipo navegable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2020824" y="3794760"/>
            <a:ext cx="1481328" cy="18288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2020824" y="379476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</a:rPr>
              <a:t>LAB WEB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2039112" y="4023360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6"/>
          <p:cNvSpPr/>
          <p:nvPr/>
        </p:nvSpPr>
        <p:spPr>
          <a:xfrm>
            <a:off x="2148840" y="39867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HTML/CSS/Bootstrap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2039112" y="4251960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2" name="Text 48"/>
          <p:cNvSpPr/>
          <p:nvPr/>
        </p:nvSpPr>
        <p:spPr>
          <a:xfrm>
            <a:off x="2148840" y="42153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React componentes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2039112" y="4480560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4" name="Text 50"/>
          <p:cNvSpPr/>
          <p:nvPr/>
        </p:nvSpPr>
        <p:spPr>
          <a:xfrm>
            <a:off x="2148840" y="44439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Diseño responsive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3712464" y="1188720"/>
            <a:ext cx="1627632" cy="3703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6" name="Shape 52"/>
          <p:cNvSpPr/>
          <p:nvPr/>
        </p:nvSpPr>
        <p:spPr>
          <a:xfrm>
            <a:off x="3712464" y="1188720"/>
            <a:ext cx="162763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Shape 53"/>
          <p:cNvSpPr/>
          <p:nvPr/>
        </p:nvSpPr>
        <p:spPr>
          <a:xfrm>
            <a:off x="3822192" y="1325880"/>
            <a:ext cx="457200" cy="4572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1353312"/>
            <a:ext cx="384048" cy="384048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3785616" y="18470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Ignacio Mello</a:t>
            </a:r>
            <a:endParaRPr lang="en-US" sz="950" dirty="0"/>
          </a:p>
        </p:txBody>
      </p:sp>
      <p:sp>
        <p:nvSpPr>
          <p:cNvPr id="60" name="Text 55"/>
          <p:cNvSpPr/>
          <p:nvPr/>
        </p:nvSpPr>
        <p:spPr>
          <a:xfrm>
            <a:off x="3785616" y="221284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Frontend Developer</a:t>
            </a:r>
            <a:endParaRPr lang="en-US" sz="850" dirty="0"/>
          </a:p>
        </p:txBody>
      </p:sp>
      <p:sp>
        <p:nvSpPr>
          <p:cNvPr id="61" name="Shape 56"/>
          <p:cNvSpPr/>
          <p:nvPr/>
        </p:nvSpPr>
        <p:spPr>
          <a:xfrm>
            <a:off x="3785616" y="2514600"/>
            <a:ext cx="1481328" cy="18288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62" name="Text 57"/>
          <p:cNvSpPr/>
          <p:nvPr/>
        </p:nvSpPr>
        <p:spPr>
          <a:xfrm>
            <a:off x="3785616" y="251460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DISEÑO 1</a:t>
            </a:r>
            <a:endParaRPr lang="en-US" sz="750" dirty="0"/>
          </a:p>
        </p:txBody>
      </p:sp>
      <p:sp>
        <p:nvSpPr>
          <p:cNvPr id="63" name="Shape 58"/>
          <p:cNvSpPr/>
          <p:nvPr/>
        </p:nvSpPr>
        <p:spPr>
          <a:xfrm>
            <a:off x="3803904" y="2761488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4" name="Text 59"/>
          <p:cNvSpPr/>
          <p:nvPr/>
        </p:nvSpPr>
        <p:spPr>
          <a:xfrm>
            <a:off x="3913632" y="271576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Casos de uso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3803904" y="3008376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6" name="Text 61"/>
          <p:cNvSpPr/>
          <p:nvPr/>
        </p:nvSpPr>
        <p:spPr>
          <a:xfrm>
            <a:off x="3913632" y="29626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Diagramas de flujo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3803904" y="3255264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8" name="Text 63"/>
          <p:cNvSpPr/>
          <p:nvPr/>
        </p:nvSpPr>
        <p:spPr>
          <a:xfrm>
            <a:off x="3913632" y="320954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Especificación UI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3785616" y="3547872"/>
            <a:ext cx="1481328" cy="18288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70" name="Text 65"/>
          <p:cNvSpPr/>
          <p:nvPr/>
        </p:nvSpPr>
        <p:spPr>
          <a:xfrm>
            <a:off x="3785616" y="354787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LAB WEB</a:t>
            </a:r>
            <a:endParaRPr lang="en-US" sz="750" dirty="0"/>
          </a:p>
        </p:txBody>
      </p:sp>
      <p:sp>
        <p:nvSpPr>
          <p:cNvPr id="71" name="Shape 66"/>
          <p:cNvSpPr/>
          <p:nvPr/>
        </p:nvSpPr>
        <p:spPr>
          <a:xfrm>
            <a:off x="3803904" y="3776472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2" name="Text 67"/>
          <p:cNvSpPr/>
          <p:nvPr/>
        </p:nvSpPr>
        <p:spPr>
          <a:xfrm>
            <a:off x="3913632" y="37398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React catálogo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3803904" y="4005072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4" name="Text 69"/>
          <p:cNvSpPr/>
          <p:nvPr/>
        </p:nvSpPr>
        <p:spPr>
          <a:xfrm>
            <a:off x="3913632" y="39684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Context API (carrito)</a:t>
            </a:r>
            <a:endParaRPr lang="en-US" sz="800" dirty="0"/>
          </a:p>
        </p:txBody>
      </p:sp>
      <p:sp>
        <p:nvSpPr>
          <p:cNvPr id="75" name="Shape 70"/>
          <p:cNvSpPr/>
          <p:nvPr/>
        </p:nvSpPr>
        <p:spPr>
          <a:xfrm>
            <a:off x="3803904" y="4233672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6" name="Text 71"/>
          <p:cNvSpPr/>
          <p:nvPr/>
        </p:nvSpPr>
        <p:spPr>
          <a:xfrm>
            <a:off x="3913632" y="41970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Claude API (chat IA)</a:t>
            </a:r>
            <a:endParaRPr lang="en-US" sz="800" dirty="0"/>
          </a:p>
        </p:txBody>
      </p:sp>
      <p:sp>
        <p:nvSpPr>
          <p:cNvPr id="77" name="Shape 72"/>
          <p:cNvSpPr/>
          <p:nvPr/>
        </p:nvSpPr>
        <p:spPr>
          <a:xfrm>
            <a:off x="5477256" y="1188720"/>
            <a:ext cx="1627632" cy="3703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78" name="Shape 73"/>
          <p:cNvSpPr/>
          <p:nvPr/>
        </p:nvSpPr>
        <p:spPr>
          <a:xfrm>
            <a:off x="5477256" y="1188720"/>
            <a:ext cx="162763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9" name="Shape 74"/>
          <p:cNvSpPr/>
          <p:nvPr/>
        </p:nvSpPr>
        <p:spPr>
          <a:xfrm>
            <a:off x="5586984" y="1325880"/>
            <a:ext cx="457200" cy="4572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8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1353312"/>
            <a:ext cx="384048" cy="384048"/>
          </a:xfrm>
          <a:prstGeom prst="rect">
            <a:avLst/>
          </a:prstGeom>
        </p:spPr>
      </p:pic>
      <p:sp>
        <p:nvSpPr>
          <p:cNvPr id="81" name="Text 75"/>
          <p:cNvSpPr/>
          <p:nvPr/>
        </p:nvSpPr>
        <p:spPr>
          <a:xfrm>
            <a:off x="5550408" y="18470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Lucas F. Medero</a:t>
            </a:r>
            <a:endParaRPr lang="en-US" sz="950" dirty="0"/>
          </a:p>
        </p:txBody>
      </p:sp>
      <p:sp>
        <p:nvSpPr>
          <p:cNvPr id="82" name="Text 76"/>
          <p:cNvSpPr/>
          <p:nvPr/>
        </p:nvSpPr>
        <p:spPr>
          <a:xfrm>
            <a:off x="5550408" y="221284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Frontend Developer</a:t>
            </a:r>
            <a:endParaRPr lang="en-US" sz="850" dirty="0"/>
          </a:p>
        </p:txBody>
      </p:sp>
      <p:sp>
        <p:nvSpPr>
          <p:cNvPr id="83" name="Shape 77"/>
          <p:cNvSpPr/>
          <p:nvPr/>
        </p:nvSpPr>
        <p:spPr>
          <a:xfrm>
            <a:off x="5550408" y="2514600"/>
            <a:ext cx="1481328" cy="18288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84" name="Text 78"/>
          <p:cNvSpPr/>
          <p:nvPr/>
        </p:nvSpPr>
        <p:spPr>
          <a:xfrm>
            <a:off x="5550408" y="251460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DISEÑO 1</a:t>
            </a:r>
            <a:endParaRPr lang="en-US" sz="750" dirty="0"/>
          </a:p>
        </p:txBody>
      </p:sp>
      <p:sp>
        <p:nvSpPr>
          <p:cNvPr id="85" name="Shape 79"/>
          <p:cNvSpPr/>
          <p:nvPr/>
        </p:nvSpPr>
        <p:spPr>
          <a:xfrm>
            <a:off x="5568696" y="2761488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6" name="Text 80"/>
          <p:cNvSpPr/>
          <p:nvPr/>
        </p:nvSpPr>
        <p:spPr>
          <a:xfrm>
            <a:off x="5678424" y="271576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Casos de uso</a:t>
            </a:r>
            <a:endParaRPr lang="en-US" sz="800" dirty="0"/>
          </a:p>
        </p:txBody>
      </p:sp>
      <p:sp>
        <p:nvSpPr>
          <p:cNvPr id="87" name="Shape 81"/>
          <p:cNvSpPr/>
          <p:nvPr/>
        </p:nvSpPr>
        <p:spPr>
          <a:xfrm>
            <a:off x="5568696" y="3008376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8" name="Text 82"/>
          <p:cNvSpPr/>
          <p:nvPr/>
        </p:nvSpPr>
        <p:spPr>
          <a:xfrm>
            <a:off x="5678424" y="29626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Flujos de checkout</a:t>
            </a:r>
            <a:endParaRPr lang="en-US" sz="800" dirty="0"/>
          </a:p>
        </p:txBody>
      </p:sp>
      <p:sp>
        <p:nvSpPr>
          <p:cNvPr id="89" name="Shape 83"/>
          <p:cNvSpPr/>
          <p:nvPr/>
        </p:nvSpPr>
        <p:spPr>
          <a:xfrm>
            <a:off x="5568696" y="3255264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0" name="Text 84"/>
          <p:cNvSpPr/>
          <p:nvPr/>
        </p:nvSpPr>
        <p:spPr>
          <a:xfrm>
            <a:off x="5678424" y="320954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Especificación auth</a:t>
            </a:r>
            <a:endParaRPr lang="en-US" sz="800" dirty="0"/>
          </a:p>
        </p:txBody>
      </p:sp>
      <p:sp>
        <p:nvSpPr>
          <p:cNvPr id="91" name="Shape 85"/>
          <p:cNvSpPr/>
          <p:nvPr/>
        </p:nvSpPr>
        <p:spPr>
          <a:xfrm>
            <a:off x="5550408" y="3547872"/>
            <a:ext cx="1481328" cy="18288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92" name="Text 86"/>
          <p:cNvSpPr/>
          <p:nvPr/>
        </p:nvSpPr>
        <p:spPr>
          <a:xfrm>
            <a:off x="5550408" y="354787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LAB WEB</a:t>
            </a:r>
            <a:endParaRPr lang="en-US" sz="750" dirty="0"/>
          </a:p>
        </p:txBody>
      </p:sp>
      <p:sp>
        <p:nvSpPr>
          <p:cNvPr id="93" name="Shape 87"/>
          <p:cNvSpPr/>
          <p:nvPr/>
        </p:nvSpPr>
        <p:spPr>
          <a:xfrm>
            <a:off x="5568696" y="377647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4" name="Text 88"/>
          <p:cNvSpPr/>
          <p:nvPr/>
        </p:nvSpPr>
        <p:spPr>
          <a:xfrm>
            <a:off x="5678424" y="37398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React checkout</a:t>
            </a:r>
            <a:endParaRPr lang="en-US" sz="800" dirty="0"/>
          </a:p>
        </p:txBody>
      </p:sp>
      <p:sp>
        <p:nvSpPr>
          <p:cNvPr id="95" name="Shape 89"/>
          <p:cNvSpPr/>
          <p:nvPr/>
        </p:nvSpPr>
        <p:spPr>
          <a:xfrm>
            <a:off x="5568696" y="400507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6" name="Text 90"/>
          <p:cNvSpPr/>
          <p:nvPr/>
        </p:nvSpPr>
        <p:spPr>
          <a:xfrm>
            <a:off x="5678424" y="39684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JWT frontend</a:t>
            </a:r>
            <a:endParaRPr lang="en-US" sz="800" dirty="0"/>
          </a:p>
        </p:txBody>
      </p:sp>
      <p:sp>
        <p:nvSpPr>
          <p:cNvPr id="97" name="Shape 91"/>
          <p:cNvSpPr/>
          <p:nvPr/>
        </p:nvSpPr>
        <p:spPr>
          <a:xfrm>
            <a:off x="5568696" y="423367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8" name="Text 92"/>
          <p:cNvSpPr/>
          <p:nvPr/>
        </p:nvSpPr>
        <p:spPr>
          <a:xfrm>
            <a:off x="5678424" y="41970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fetch / axios</a:t>
            </a:r>
            <a:endParaRPr lang="en-US" sz="800" dirty="0"/>
          </a:p>
        </p:txBody>
      </p:sp>
      <p:sp>
        <p:nvSpPr>
          <p:cNvPr id="99" name="Shape 93"/>
          <p:cNvSpPr/>
          <p:nvPr/>
        </p:nvSpPr>
        <p:spPr>
          <a:xfrm>
            <a:off x="7242048" y="1188720"/>
            <a:ext cx="1627632" cy="3703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00" name="Shape 94"/>
          <p:cNvSpPr/>
          <p:nvPr/>
        </p:nvSpPr>
        <p:spPr>
          <a:xfrm>
            <a:off x="7242048" y="1188720"/>
            <a:ext cx="1627632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1" name="Shape 95"/>
          <p:cNvSpPr/>
          <p:nvPr/>
        </p:nvSpPr>
        <p:spPr>
          <a:xfrm>
            <a:off x="7351776" y="1325880"/>
            <a:ext cx="457200" cy="457200"/>
          </a:xfrm>
          <a:prstGeom prst="rect">
            <a:avLst/>
          </a:prstGeom>
          <a:solidFill>
            <a:srgbClr val="CBD5E1">
              <a:alpha val="20000"/>
            </a:srgbClr>
          </a:solidFill>
          <a:ln/>
        </p:spPr>
      </p:sp>
      <p:pic>
        <p:nvPicPr>
          <p:cNvPr id="10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353312"/>
            <a:ext cx="384048" cy="384048"/>
          </a:xfrm>
          <a:prstGeom prst="rect">
            <a:avLst/>
          </a:prstGeom>
        </p:spPr>
      </p:pic>
      <p:sp>
        <p:nvSpPr>
          <p:cNvPr id="103" name="Text 96"/>
          <p:cNvSpPr/>
          <p:nvPr/>
        </p:nvSpPr>
        <p:spPr>
          <a:xfrm>
            <a:off x="7315200" y="18470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Stefano F. Marsegani</a:t>
            </a:r>
            <a:endParaRPr lang="en-US" sz="950" dirty="0"/>
          </a:p>
        </p:txBody>
      </p:sp>
      <p:sp>
        <p:nvSpPr>
          <p:cNvPr id="104" name="Text 97"/>
          <p:cNvSpPr/>
          <p:nvPr/>
        </p:nvSpPr>
        <p:spPr>
          <a:xfrm>
            <a:off x="7315200" y="221284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Backend Developer</a:t>
            </a:r>
            <a:endParaRPr lang="en-US" sz="850" dirty="0"/>
          </a:p>
        </p:txBody>
      </p:sp>
      <p:sp>
        <p:nvSpPr>
          <p:cNvPr id="105" name="Shape 98"/>
          <p:cNvSpPr/>
          <p:nvPr/>
        </p:nvSpPr>
        <p:spPr>
          <a:xfrm>
            <a:off x="7315200" y="2514600"/>
            <a:ext cx="1481328" cy="18288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106" name="Text 99"/>
          <p:cNvSpPr/>
          <p:nvPr/>
        </p:nvSpPr>
        <p:spPr>
          <a:xfrm>
            <a:off x="7315200" y="251460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</a:rPr>
              <a:t>DISEÑO 1</a:t>
            </a:r>
            <a:endParaRPr lang="en-US" sz="750" dirty="0"/>
          </a:p>
        </p:txBody>
      </p:sp>
      <p:sp>
        <p:nvSpPr>
          <p:cNvPr id="107" name="Shape 100"/>
          <p:cNvSpPr/>
          <p:nvPr/>
        </p:nvSpPr>
        <p:spPr>
          <a:xfrm>
            <a:off x="7333488" y="2761488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8" name="Text 101"/>
          <p:cNvSpPr/>
          <p:nvPr/>
        </p:nvSpPr>
        <p:spPr>
          <a:xfrm>
            <a:off x="7443216" y="271576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Modelo datos DER</a:t>
            </a:r>
            <a:endParaRPr lang="en-US" sz="800" dirty="0"/>
          </a:p>
        </p:txBody>
      </p:sp>
      <p:sp>
        <p:nvSpPr>
          <p:cNvPr id="109" name="Shape 102"/>
          <p:cNvSpPr/>
          <p:nvPr/>
        </p:nvSpPr>
        <p:spPr>
          <a:xfrm>
            <a:off x="7333488" y="3008376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0" name="Text 103"/>
          <p:cNvSpPr/>
          <p:nvPr/>
        </p:nvSpPr>
        <p:spPr>
          <a:xfrm>
            <a:off x="7443216" y="29626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Arquitectura sistema</a:t>
            </a:r>
            <a:endParaRPr lang="en-US" sz="800" dirty="0"/>
          </a:p>
        </p:txBody>
      </p:sp>
      <p:sp>
        <p:nvSpPr>
          <p:cNvPr id="111" name="Shape 104"/>
          <p:cNvSpPr/>
          <p:nvPr/>
        </p:nvSpPr>
        <p:spPr>
          <a:xfrm>
            <a:off x="7333488" y="3255264"/>
            <a:ext cx="64008" cy="640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2" name="Text 105"/>
          <p:cNvSpPr/>
          <p:nvPr/>
        </p:nvSpPr>
        <p:spPr>
          <a:xfrm>
            <a:off x="7443216" y="320954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Especificación API</a:t>
            </a:r>
            <a:endParaRPr lang="en-US" sz="800" dirty="0"/>
          </a:p>
        </p:txBody>
      </p:sp>
      <p:sp>
        <p:nvSpPr>
          <p:cNvPr id="113" name="Shape 106"/>
          <p:cNvSpPr/>
          <p:nvPr/>
        </p:nvSpPr>
        <p:spPr>
          <a:xfrm>
            <a:off x="7315200" y="3547872"/>
            <a:ext cx="1481328" cy="182880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114" name="Text 107"/>
          <p:cNvSpPr/>
          <p:nvPr/>
        </p:nvSpPr>
        <p:spPr>
          <a:xfrm>
            <a:off x="7315200" y="354787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LAB WEB</a:t>
            </a:r>
            <a:endParaRPr lang="en-US" sz="750" dirty="0"/>
          </a:p>
        </p:txBody>
      </p:sp>
      <p:sp>
        <p:nvSpPr>
          <p:cNvPr id="115" name="Shape 108"/>
          <p:cNvSpPr/>
          <p:nvPr/>
        </p:nvSpPr>
        <p:spPr>
          <a:xfrm>
            <a:off x="7333488" y="3776472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16" name="Text 109"/>
          <p:cNvSpPr/>
          <p:nvPr/>
        </p:nvSpPr>
        <p:spPr>
          <a:xfrm>
            <a:off x="7443216" y="37398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Node.js + Express</a:t>
            </a:r>
            <a:endParaRPr lang="en-US" sz="800" dirty="0"/>
          </a:p>
        </p:txBody>
      </p:sp>
      <p:sp>
        <p:nvSpPr>
          <p:cNvPr id="117" name="Shape 110"/>
          <p:cNvSpPr/>
          <p:nvPr/>
        </p:nvSpPr>
        <p:spPr>
          <a:xfrm>
            <a:off x="7333488" y="4005072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18" name="Text 111"/>
          <p:cNvSpPr/>
          <p:nvPr/>
        </p:nvSpPr>
        <p:spPr>
          <a:xfrm>
            <a:off x="7443216" y="39684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MySQL queries</a:t>
            </a:r>
            <a:endParaRPr lang="en-US" sz="800" dirty="0"/>
          </a:p>
        </p:txBody>
      </p:sp>
      <p:sp>
        <p:nvSpPr>
          <p:cNvPr id="119" name="Shape 112"/>
          <p:cNvSpPr/>
          <p:nvPr/>
        </p:nvSpPr>
        <p:spPr>
          <a:xfrm>
            <a:off x="7333488" y="4233672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20" name="Text 113"/>
          <p:cNvSpPr/>
          <p:nvPr/>
        </p:nvSpPr>
        <p:spPr>
          <a:xfrm>
            <a:off x="7443216" y="41970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JWT + bcrypt</a:t>
            </a:r>
            <a:endParaRPr lang="en-US" sz="800" dirty="0"/>
          </a:p>
        </p:txBody>
      </p:sp>
      <p:sp>
        <p:nvSpPr>
          <p:cNvPr id="121" name="Shape 114"/>
          <p:cNvSpPr/>
          <p:nvPr/>
        </p:nvSpPr>
        <p:spPr>
          <a:xfrm>
            <a:off x="7333488" y="4462272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22" name="Text 115"/>
          <p:cNvSpPr/>
          <p:nvPr/>
        </p:nvSpPr>
        <p:spPr>
          <a:xfrm>
            <a:off x="7443216" y="442569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Mercado Pago SDK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28600"/>
            <a:ext cx="201168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</a:rPr>
              <a:t>05 / FLUJO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Flujo del proceso de compra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137160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Usuario entra al sitio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1499616"/>
            <a:ext cx="1371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280160"/>
            <a:ext cx="1371600" cy="438912"/>
          </a:xfrm>
          <a:prstGeom prst="rect">
            <a:avLst/>
          </a:prstGeom>
          <a:solidFill>
            <a:srgbClr val="0F1729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280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Explora catálogo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499616"/>
            <a:ext cx="1371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80160"/>
            <a:ext cx="1371600" cy="438912"/>
          </a:xfrm>
          <a:prstGeom prst="rect">
            <a:avLst/>
          </a:prstGeom>
          <a:solidFill>
            <a:srgbClr val="0F172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80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Agrega al carrito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499616"/>
            <a:ext cx="1371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280160"/>
            <a:ext cx="1371600" cy="438912"/>
          </a:xfrm>
          <a:prstGeom prst="rect">
            <a:avLst/>
          </a:prstGeom>
          <a:solidFill>
            <a:srgbClr val="0F172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80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◆ ¿Tiene cuenta?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1719072"/>
            <a:ext cx="0" cy="658368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7373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NO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13716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77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Registro / Login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499616"/>
            <a:ext cx="1371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3350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SÍ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55080" y="1280160"/>
            <a:ext cx="1371600" cy="438912"/>
          </a:xfrm>
          <a:prstGeom prst="rect">
            <a:avLst/>
          </a:prstGeom>
          <a:solidFill>
            <a:srgbClr val="0F172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280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Ir al checkout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596896"/>
            <a:ext cx="1371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2377440"/>
            <a:ext cx="13716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377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Pago Mercado Pago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1719072"/>
            <a:ext cx="0" cy="658368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816352"/>
            <a:ext cx="0" cy="704088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3520440"/>
            <a:ext cx="1371600" cy="438912"/>
          </a:xfrm>
          <a:prstGeom prst="rect">
            <a:avLst/>
          </a:prstGeom>
          <a:solidFill>
            <a:srgbClr val="0F172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520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◆ ¿Pago aprobado?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9440" y="3739896"/>
            <a:ext cx="27432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APROBADO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223760" y="3520440"/>
            <a:ext cx="13716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3520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Orden confirmada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+ Email IA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959352"/>
            <a:ext cx="0" cy="32004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977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RECHAZADO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29200" y="4279392"/>
            <a:ext cx="1371600" cy="292608"/>
          </a:xfrm>
          <a:prstGeom prst="rect">
            <a:avLst/>
          </a:prstGeom>
          <a:solidFill>
            <a:srgbClr val="0F17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2793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Reintentar pago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434840"/>
            <a:ext cx="4114800" cy="457200"/>
          </a:xfrm>
          <a:prstGeom prst="rect">
            <a:avLst/>
          </a:prstGeom>
          <a:solidFill>
            <a:srgbClr val="1A0F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34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El asistente virtual con IA (Claude API) está disponible en todo momento para ayudar al usuario durante la navegación y el proceso de compra.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28600"/>
            <a:ext cx="201168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</a:rPr>
              <a:t>06 / TECNOLOGÍAS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Stack tecnológico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25880"/>
            <a:ext cx="594360" cy="20116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Base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4300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HTML5 + CSS3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16733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Estructura y estilos del sitio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234440"/>
            <a:ext cx="54864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325880"/>
            <a:ext cx="594360" cy="20116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3258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Frontend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06908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Bootstrap 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16733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Diseño responsive y componentes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23444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1234440"/>
            <a:ext cx="54864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325880"/>
            <a:ext cx="594360" cy="20116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3258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Frontend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99516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JavaScript ES6+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16733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Lógica e interactividad del DOM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194560"/>
            <a:ext cx="54864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286000"/>
            <a:ext cx="594360" cy="20116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Frontend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4300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2633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Componentes reutilizables y estado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219456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6120" y="2194560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0" y="2286000"/>
            <a:ext cx="594360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Backend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6908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Node.js + Express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83280" y="2633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Servidor y API REST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219456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72200" y="2194560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2286000"/>
            <a:ext cx="594360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BD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9516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MySQL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309360" y="2633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Almacenamiento relacional de datos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15468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4" name="Shape 42"/>
          <p:cNvSpPr/>
          <p:nvPr/>
        </p:nvSpPr>
        <p:spPr>
          <a:xfrm>
            <a:off x="320040" y="3154680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3246120"/>
            <a:ext cx="594360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2461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Seguridad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143000" y="3227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JWT + bcrypt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35935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Autenticación de usuarios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46120" y="315468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0" name="Shape 48"/>
          <p:cNvSpPr/>
          <p:nvPr/>
        </p:nvSpPr>
        <p:spPr>
          <a:xfrm>
            <a:off x="3246120" y="3154680"/>
            <a:ext cx="54864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Shape 49"/>
          <p:cNvSpPr/>
          <p:nvPr/>
        </p:nvSpPr>
        <p:spPr>
          <a:xfrm>
            <a:off x="3383280" y="3246120"/>
            <a:ext cx="594360" cy="201168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383280" y="32461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IA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069080" y="3227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Claude API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3383280" y="35935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Asistente virtual y emails automáticos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72200" y="315468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6" name="Shape 54"/>
          <p:cNvSpPr/>
          <p:nvPr/>
        </p:nvSpPr>
        <p:spPr>
          <a:xfrm>
            <a:off x="6172200" y="3154680"/>
            <a:ext cx="54864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Shape 55"/>
          <p:cNvSpPr/>
          <p:nvPr/>
        </p:nvSpPr>
        <p:spPr>
          <a:xfrm>
            <a:off x="6309360" y="3246120"/>
            <a:ext cx="594360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309360" y="32461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Pagos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995160" y="3227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Mercado Pago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309360" y="35935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Checkout Pro integrado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411480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62" name="Shape 60"/>
          <p:cNvSpPr/>
          <p:nvPr/>
        </p:nvSpPr>
        <p:spPr>
          <a:xfrm>
            <a:off x="320040" y="4114800"/>
            <a:ext cx="54864" cy="8046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3" name="Shape 61"/>
          <p:cNvSpPr/>
          <p:nvPr/>
        </p:nvSpPr>
        <p:spPr>
          <a:xfrm>
            <a:off x="457200" y="4206240"/>
            <a:ext cx="594360" cy="201168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206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DevOps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14300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GitHub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57200" y="45537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Control de versiones en equipo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46120" y="411480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68" name="Shape 66"/>
          <p:cNvSpPr/>
          <p:nvPr/>
        </p:nvSpPr>
        <p:spPr>
          <a:xfrm>
            <a:off x="3246120" y="4114800"/>
            <a:ext cx="54864" cy="8046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9" name="Shape 67"/>
          <p:cNvSpPr/>
          <p:nvPr/>
        </p:nvSpPr>
        <p:spPr>
          <a:xfrm>
            <a:off x="3383280" y="4206240"/>
            <a:ext cx="594360" cy="201168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3383280" y="4206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Deploy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06908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Vercel + Railway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3383280" y="45537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Hosting frontend y backend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72200" y="4114800"/>
            <a:ext cx="2788920" cy="8046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74" name="Shape 72"/>
          <p:cNvSpPr/>
          <p:nvPr/>
        </p:nvSpPr>
        <p:spPr>
          <a:xfrm>
            <a:off x="6172200" y="4114800"/>
            <a:ext cx="54864" cy="8046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5" name="Shape 73"/>
          <p:cNvSpPr/>
          <p:nvPr/>
        </p:nvSpPr>
        <p:spPr>
          <a:xfrm>
            <a:off x="6309360" y="4206240"/>
            <a:ext cx="594360" cy="201168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6309360" y="4206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BD5E1"/>
                </a:solidFill>
              </a:rPr>
              <a:t>Diseño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99516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Figma + Draw.io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6309360" y="45537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Prototipado y diagramas UML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28600"/>
            <a:ext cx="219456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</a:rPr>
              <a:t>07 / FUNCIONALIDADES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Funcionalidades del sistema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3931920" cy="3703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188720"/>
            <a:ext cx="393192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MÓDULO USUARIO / CLIENTE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7335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6276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Registro e inicio de sesión seguro (JWT)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19293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Catálogo con filtros (categoría, precio, marca)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7685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2311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Búsqueda de productos en tiempo real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5328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Detalle de producto con especificaciones técnicas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8346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Carrito de compras persistente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1363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Proceso de pago con Mercado Pago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8386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4381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Historial de órdenes y seguimiento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8561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7398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Asistente virtual con IA (Claude API)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0416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Email de confirmación automático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188720"/>
            <a:ext cx="4251960" cy="3703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1188720"/>
            <a:ext cx="4251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11887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MÓDULO ADMINISTRADOR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67335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Panel de control con estadísticas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9933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1947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CRUD de productos (alta, baja, modificación)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3134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2267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Gestión de inventario y stock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6334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2587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Ver y gestionar órdenes de compra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9535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73752" y="2907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Actualizar estado de pedidos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27355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873752" y="3227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Gestión de usuarios registrados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5935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873752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Respuesta automática de emails con IA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9136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873752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Configurar categorías y precios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0" y="27432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E293B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</a:t>
            </a:r>
            <a:endParaRPr lang="en-US" sz="9000" dirty="0"/>
          </a:p>
          <a:p>
            <a:pPr algn="ctr" indent="0" marL="0">
              <a:buNone/>
            </a:pPr>
            <a:r>
              <a:rPr lang="en-US" sz="9000" b="1" dirty="0">
                <a:solidFill>
                  <a:srgbClr val="1E293B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ZONE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Proyecto final: Tech Zone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E-Commerce de Componentes de PC &amp; Electrónica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114800" cy="137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26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Nicolás Exequiel Videla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Ramiro Miruy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381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Ignacio Mello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941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Lucas Fernandez Medero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Stefano Federici Marsegani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9 slides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81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 presentación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08760" y="4343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4 fases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681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 desarrollo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4343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5 devs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4681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en el equipo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11880" y="4343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Full-stack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4681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 IA integrada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Diseño de Sistemas I  ·  Laboratorio de Desarrollo Web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Zone - E-Commerce de Componentes PC</dc:title>
  <dc:subject>PptxGenJS Presentation</dc:subject>
  <dc:creator>PptxGenJS</dc:creator>
  <cp:lastModifiedBy>PptxGenJS</cp:lastModifiedBy>
  <cp:revision>1</cp:revision>
  <dcterms:created xsi:type="dcterms:W3CDTF">2026-04-09T18:19:14Z</dcterms:created>
  <dcterms:modified xsi:type="dcterms:W3CDTF">2026-04-09T18:19:14Z</dcterms:modified>
</cp:coreProperties>
</file>